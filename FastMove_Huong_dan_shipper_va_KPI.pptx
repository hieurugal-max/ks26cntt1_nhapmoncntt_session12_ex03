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B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3750"/>
                </a:solidFill>
                <a:latin typeface="Arial"/>
              </a:defRPr>
            </a:pPr>
            <a:r>
              <a:t>FastMove chuẩn hóa quy trình để giảm chậm trễ xử lý đơn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23C"/>
                </a:solidFill>
                <a:latin typeface="Arial"/>
              </a:defRPr>
            </a:pPr>
            <a:r>
              <a:t>Quy trình kho và hướng dẫn shipper nhận đơn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28323C"/>
                </a:solidFill>
                <a:latin typeface="Arial"/>
              </a:defRPr>
            </a:pPr>
            <a:r>
              <a:t>Tra cứu giá cước bằng Excel thay cho thao tác thủ công.</a:t>
            </a:r>
          </a:p>
          <a:p>
            <a:pPr>
              <a:spcAft>
                <a:spcPts val="2000"/>
              </a:spcAft>
              <a:defRPr sz="2200">
                <a:solidFill>
                  <a:srgbClr val="28323C"/>
                </a:solidFill>
                <a:latin typeface="Arial"/>
              </a:defRPr>
            </a:pPr>
            <a:r>
              <a:t>Dùng một bảng giá thống nhất để hạn chế nhập sai.</a:t>
            </a:r>
          </a:p>
          <a:p>
            <a:pPr>
              <a:spcAft>
                <a:spcPts val="2000"/>
              </a:spcAft>
              <a:defRPr sz="2200">
                <a:solidFill>
                  <a:srgbClr val="28323C"/>
                </a:solidFill>
                <a:latin typeface="Arial"/>
              </a:defRPr>
            </a:pPr>
            <a:r>
              <a:t>Kiểm tra mã vận đơn trước khi bàn giao.</a:t>
            </a:r>
          </a:p>
          <a:p>
            <a:pPr>
              <a:spcAft>
                <a:spcPts val="2000"/>
              </a:spcAft>
              <a:defRPr sz="2200">
                <a:solidFill>
                  <a:srgbClr val="28323C"/>
                </a:solidFill>
                <a:latin typeface="Arial"/>
              </a:defRPr>
            </a:pPr>
            <a:r>
              <a:t>Ghi nhận ngoại lệ để điều phối xử lý.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3750"/>
                </a:solidFill>
                <a:latin typeface="Arial"/>
              </a:defRPr>
            </a:pPr>
            <a:r>
              <a:t>Shipper cần kiểm tra đủ 4 thông tin trước khi nhận đơn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500">
                <a:solidFill>
                  <a:srgbClr val="28323C"/>
                </a:solidFill>
                <a:latin typeface="Arial"/>
              </a:defRPr>
            </a:pPr>
            <a:r>
              <a:t>Mã vận đơn chính xác.</a:t>
            </a:r>
          </a:p>
          <a:p>
            <a:pPr>
              <a:spcAft>
                <a:spcPts val="2000"/>
              </a:spcAft>
              <a:defRPr sz="2500">
                <a:solidFill>
                  <a:srgbClr val="28323C"/>
                </a:solidFill>
                <a:latin typeface="Arial"/>
              </a:defRPr>
            </a:pPr>
            <a:r>
              <a:t>Địa chỉ và thông tin người nhận đầy đủ.</a:t>
            </a:r>
          </a:p>
          <a:p>
            <a:pPr>
              <a:spcAft>
                <a:spcPts val="2000"/>
              </a:spcAft>
              <a:defRPr sz="2500">
                <a:solidFill>
                  <a:srgbClr val="28323C"/>
                </a:solidFill>
                <a:latin typeface="Arial"/>
              </a:defRPr>
            </a:pPr>
            <a:r>
              <a:t>Giá cước khớp với bảng tra cứu.</a:t>
            </a:r>
          </a:p>
          <a:p>
            <a:pPr>
              <a:spcAft>
                <a:spcPts val="2000"/>
              </a:spcAft>
              <a:defRPr sz="2500">
                <a:solidFill>
                  <a:srgbClr val="28323C"/>
                </a:solidFill>
                <a:latin typeface="Arial"/>
              </a:defRPr>
            </a:pPr>
            <a:r>
              <a:t>Trạng thái đơn đã được xác nhận.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03750"/>
                </a:solidFill>
                <a:latin typeface="Arial"/>
              </a:defRPr>
            </a:pPr>
            <a:r>
              <a:t>Giao đúng hạn là KPI cần ưu tiên theo dõi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8323C"/>
                </a:solidFill>
                <a:latin typeface="Arial"/>
              </a:defRPr>
            </a:pPr>
            <a:r>
              <a:t>Số liệu minh họa để trình bày biểu đồ; thay bằng dữ liệu thực tế của FastMove.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rial"/>
              </a:defRPr>
            </a:pPr>
            <a:r>
              <a:t>Giao đúng hạn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39" y="1581912"/>
            <a:ext cx="4114800" cy="320040"/>
          </a:xfrm>
          <a:prstGeom prst="rect">
            <a:avLst/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39" y="1581912"/>
            <a:ext cx="3785615" cy="320040"/>
          </a:xfrm>
          <a:prstGeom prst="rect">
            <a:avLst/>
          </a:prstGeom>
          <a:solidFill>
            <a:srgbClr val="0091AA"/>
          </a:solidFill>
          <a:ln>
            <a:solidFill>
              <a:srgbClr val="00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153619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323C"/>
                </a:solidFill>
                <a:latin typeface="Arial"/>
              </a:defRPr>
            </a:pPr>
            <a: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rial"/>
              </a:defRPr>
            </a:pPr>
            <a:r>
              <a:t>Giao trễ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39" y="2724912"/>
            <a:ext cx="4114800" cy="320040"/>
          </a:xfrm>
          <a:prstGeom prst="rect">
            <a:avLst/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2724912"/>
            <a:ext cx="329184" cy="320040"/>
          </a:xfrm>
          <a:prstGeom prst="rect">
            <a:avLst/>
          </a:prstGeom>
          <a:solidFill>
            <a:srgbClr val="F0912D"/>
          </a:solidFill>
          <a:ln>
            <a:solidFill>
              <a:srgbClr val="F0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6600" y="267919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323C"/>
                </a:solidFill>
                <a:latin typeface="Arial"/>
              </a:defRPr>
            </a:pPr>
            <a:r>
              <a:t>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8323C"/>
                </a:solidFill>
                <a:latin typeface="Arial"/>
              </a:defRPr>
            </a:pPr>
            <a:r>
              <a:t>Tra cứu tự động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39" y="3867912"/>
            <a:ext cx="4114800" cy="320040"/>
          </a:xfrm>
          <a:prstGeom prst="rect">
            <a:avLst/>
          </a:prstGeom>
          <a:solidFill>
            <a:srgbClr val="EBF5F8"/>
          </a:solidFill>
          <a:ln>
            <a:solidFill>
              <a:srgbClr val="EB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34639" y="3867912"/>
            <a:ext cx="3909060" cy="320040"/>
          </a:xfrm>
          <a:prstGeom prst="rect">
            <a:avLst/>
          </a:prstGeom>
          <a:solidFill>
            <a:srgbClr val="0091AA"/>
          </a:solidFill>
          <a:ln>
            <a:solidFill>
              <a:srgbClr val="0091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86600" y="3822192"/>
            <a:ext cx="731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8323C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920240"/>
            <a:ext cx="347472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750"/>
                </a:solidFill>
              </a:defRPr>
            </a:pPr>
            <a:r>
              <a:t>Điểm cần chú ý</a:t>
            </a:r>
          </a:p>
          <a:p>
            <a:pPr>
              <a:defRPr sz="1700">
                <a:solidFill>
                  <a:srgbClr val="28323C"/>
                </a:solidFill>
              </a:defRPr>
            </a:pPr>
            <a:r>
              <a:t>Ưu tiên giảm đơn giao trễ.</a:t>
            </a:r>
          </a:p>
          <a:p>
            <a:pPr>
              <a:defRPr sz="1700">
                <a:solidFill>
                  <a:srgbClr val="28323C"/>
                </a:solidFill>
              </a:defRPr>
            </a:pPr>
            <a:r>
              <a:t>Theo dõi tỷ lệ đúng hạn theo ngày.</a:t>
            </a:r>
          </a:p>
          <a:p>
            <a:pPr>
              <a:defRPr sz="1700">
                <a:solidFill>
                  <a:srgbClr val="28323C"/>
                </a:solidFill>
              </a:defRPr>
            </a:pPr>
            <a:r>
              <a:t>Số liệu trên là ví dụ, không phải kết quả thực tế.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